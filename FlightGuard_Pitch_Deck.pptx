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FlightGuard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E2E8F0"/>
                </a:solidFill>
              </a:defRPr>
            </a:pPr>
            <a:r>
              <a:t>Blockchain-Powered Flight Insurance That Pays You Back Automatically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4864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B82F6"/>
                </a:solidFill>
              </a:defRPr>
            </a:pPr>
            <a:r>
              <a:t>Prepared by: Elturan Aliyev | MVP Stage: Testnet Ready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A192F"/>
                </a:solidFill>
              </a:defRPr>
            </a:pPr>
            <a:r>
              <a:t>The Problem: Traditional Insurance Fails Travelers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>
                <a:solidFill>
                  <a:srgbClr val="0A192F"/>
                </a:solidFill>
              </a:defRPr>
            </a:pPr>
            <a:r>
              <a:t>Energy Waste: Pure PoW blockchains consume massive energy</a:t>
            </a:r>
          </a:p>
          <a:p>
            <a:pPr>
              <a:defRPr sz="1600">
                <a:solidFill>
                  <a:srgbClr val="0A192F"/>
                </a:solidFill>
              </a:defRPr>
            </a:pPr>
            <a:r>
              <a:t>Centralization Risk: PoS systems concentrate power in few validators</a:t>
            </a:r>
          </a:p>
          <a:p>
            <a:pPr>
              <a:defRPr sz="1600">
                <a:solidFill>
                  <a:srgbClr val="0A192F"/>
                </a:solidFill>
              </a:defRPr>
            </a:pPr>
            <a:r>
              <a:t>Claim Delays: Traditional insurance takes days/weeks for payouts</a:t>
            </a:r>
          </a:p>
          <a:p>
            <a:pPr>
              <a:defRPr sz="1600">
                <a:solidFill>
                  <a:srgbClr val="0A192F"/>
                </a:solidFill>
              </a:defRPr>
            </a:pPr>
            <a:r>
              <a:t>Trust Issues: Opaque settlement processes</a:t>
            </a:r>
          </a:p>
          <a:p>
            <a:pPr>
              <a:defRPr sz="1600">
                <a:solidFill>
                  <a:srgbClr val="0A192F"/>
                </a:solidFill>
              </a:defRPr>
            </a:pPr>
            <a:r>
              <a:t>High Fees: Manual processing drives up costs</a:t>
            </a:r>
          </a:p>
          <a:p>
            <a:pPr>
              <a:defRPr sz="1600">
                <a:solidFill>
                  <a:srgbClr val="0A192F"/>
                </a:solidFill>
              </a:defRPr>
            </a:pPr>
            <a:r>
              <a:t>Methodology: SCAMPER + 5 Whys analysis identified root causes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A192F"/>
                </a:solidFill>
              </a:defRPr>
            </a:pPr>
            <a:r>
              <a:t>Our Solution: Hybrid PoW + PoS Consensus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>
                <a:solidFill>
                  <a:srgbClr val="0A192F"/>
                </a:solidFill>
              </a:defRPr>
            </a:pPr>
            <a:r>
              <a:t>Security Fusion: PoW immutability + PoS speed</a:t>
            </a:r>
          </a:p>
          <a:p>
            <a:pPr>
              <a:defRPr sz="1600">
                <a:solidFill>
                  <a:srgbClr val="0A192F"/>
                </a:solidFill>
              </a:defRPr>
            </a:pPr>
            <a:r>
              <a:t>Scalability: Next.js SSR + FastAPI async I/O</a:t>
            </a:r>
          </a:p>
          <a:p>
            <a:pPr>
              <a:defRPr sz="1600">
                <a:solidFill>
                  <a:srgbClr val="0A192F"/>
                </a:solidFill>
              </a:defRPr>
            </a:pPr>
            <a:r>
              <a:t>Inclusivity: Real-time ETL pipelines for instant data</a:t>
            </a:r>
          </a:p>
          <a:p>
            <a:pPr>
              <a:defRPr sz="1600">
                <a:solidFill>
                  <a:srgbClr val="0A192F"/>
                </a:solidFill>
              </a:defRPr>
            </a:pPr>
            <a:r>
              <a:t>Interoperability: GraphQL + Web3 integration</a:t>
            </a:r>
          </a:p>
          <a:p>
            <a:pPr>
              <a:defRPr sz="1600">
                <a:solidFill>
                  <a:srgbClr val="0A192F"/>
                </a:solidFill>
              </a:defRPr>
            </a:pPr>
            <a:r>
              <a:t>Meta-Benefit: Trust by Design via methodological rigor (TRIZ, FMEA)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Market Segmentation &amp; Use Cases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6096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Segment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Use Case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TAM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B2B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Enterprise supply chain integrations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$200B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B2C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NFT ticketing + staking rewards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$150B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B2G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Public records with compliance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$80B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C2C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P2P exchanges via WebSocket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$100B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G2G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Cross-border data with oracles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$50B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A192F"/>
                </a:solidFill>
              </a:defRPr>
            </a:pPr>
            <a:r>
              <a:t>Market Opportunity &amp; 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>
                <a:solidFill>
                  <a:srgbClr val="0A192F"/>
                </a:solidFill>
              </a:defRPr>
            </a:pPr>
            <a:r>
              <a:t>TAM: $1.5T global blockchain insurance market</a:t>
            </a:r>
          </a:p>
          <a:p>
            <a:pPr>
              <a:defRPr sz="1600">
                <a:solidFill>
                  <a:srgbClr val="0A192F"/>
                </a:solidFill>
              </a:defRPr>
            </a:pPr>
            <a:r>
              <a:t>SAM: $200M initial capture (2026-2027)</a:t>
            </a:r>
          </a:p>
          <a:p>
            <a:pPr>
              <a:defRPr sz="1600">
                <a:solidFill>
                  <a:srgbClr val="0A192F"/>
                </a:solidFill>
              </a:defRPr>
            </a:pPr>
            <a:r>
              <a:t>ROI: 15% projected return for stakers</a:t>
            </a:r>
          </a:p>
          <a:p>
            <a:pPr>
              <a:defRPr sz="1600">
                <a:solidFill>
                  <a:srgbClr val="0A192F"/>
                </a:solidFill>
              </a:defRPr>
            </a:pPr>
            <a:r>
              <a:t>CLV: $500 average Customer Lifetime Value over 3 years</a:t>
            </a:r>
          </a:p>
          <a:p>
            <a:pPr>
              <a:defRPr sz="1600">
                <a:solidFill>
                  <a:srgbClr val="0A192F"/>
                </a:solidFill>
              </a:defRPr>
            </a:pPr>
            <a:r>
              <a:t>CAC: $50 Customer Acquisition Cost</a:t>
            </a:r>
          </a:p>
          <a:p>
            <a:pPr>
              <a:defRPr sz="1600">
                <a:solidFill>
                  <a:srgbClr val="0A192F"/>
                </a:solidFill>
              </a:defRPr>
            </a:pPr>
            <a:r>
              <a:t>Why Now: Post-2024 regulatory clarity + DeFi adoption surge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A192F"/>
                </a:solidFill>
              </a:defRPr>
            </a:pPr>
            <a:r>
              <a:t>Technology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>
                <a:solidFill>
                  <a:srgbClr val="0A192F"/>
                </a:solidFill>
              </a:defRPr>
            </a:pPr>
            <a:r>
              <a:t>Frontend: Next.js 16 + React 19 + Three.js (SSR for SEO)</a:t>
            </a:r>
          </a:p>
          <a:p>
            <a:pPr>
              <a:defRPr sz="1600">
                <a:solidFill>
                  <a:srgbClr val="0A192F"/>
                </a:solidFill>
              </a:defRPr>
            </a:pPr>
            <a:r>
              <a:t>Backend: Hybrid Django 5.0 + FastAPI (Async I/O)</a:t>
            </a:r>
          </a:p>
          <a:p>
            <a:pPr>
              <a:defRPr sz="1600">
                <a:solidFill>
                  <a:srgbClr val="0A192F"/>
                </a:solidFill>
              </a:defRPr>
            </a:pPr>
            <a:r>
              <a:t>Smart Contracts: Solidity 0.8.20 (Hardhat tested, 100% pass rate)</a:t>
            </a:r>
          </a:p>
          <a:p>
            <a:pPr>
              <a:defRPr sz="1600">
                <a:solidFill>
                  <a:srgbClr val="0A192F"/>
                </a:solidFill>
              </a:defRPr>
            </a:pPr>
            <a:r>
              <a:t>ETL: Event listeners bridging blockchain to PostgreSQL</a:t>
            </a:r>
          </a:p>
          <a:p>
            <a:pPr>
              <a:defRPr sz="1600">
                <a:solidFill>
                  <a:srgbClr val="0A192F"/>
                </a:solidFill>
              </a:defRPr>
            </a:pPr>
            <a:r>
              <a:t>TRL: Level 6 (Testnet validated)</a:t>
            </a:r>
          </a:p>
          <a:p>
            <a:pPr>
              <a:defRPr sz="1600">
                <a:solidFill>
                  <a:srgbClr val="0A192F"/>
                </a:solidFill>
              </a:defRPr>
            </a:pPr>
            <a:r>
              <a:t>Security: FMEA + ReentrancyGuard (RPN reduced 90→10)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A192F"/>
                </a:solidFill>
              </a:defRPr>
            </a:pPr>
            <a:r>
              <a:t>Business Model &amp; Tokenomics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>
                <a:solidFill>
                  <a:srgbClr val="0A192F"/>
                </a:solidFill>
              </a:defRPr>
            </a:pPr>
            <a:r>
              <a:t>Revenue Streams: 0.1% transaction fees, 5% staking commissions</a:t>
            </a:r>
          </a:p>
          <a:p>
            <a:pPr>
              <a:defRPr sz="1600">
                <a:solidFill>
                  <a:srgbClr val="0A192F"/>
                </a:solidFill>
              </a:defRPr>
            </a:pPr>
            <a:r>
              <a:t>Token Distribution: 20% Team, 30% Community, 25% Treasury</a:t>
            </a:r>
          </a:p>
          <a:p>
            <a:pPr>
              <a:defRPr sz="1600">
                <a:solidFill>
                  <a:srgbClr val="0A192F"/>
                </a:solidFill>
              </a:defRPr>
            </a:pPr>
            <a:r>
              <a:t>Supply: 1B total, 100M initial circulation</a:t>
            </a:r>
          </a:p>
          <a:p>
            <a:pPr>
              <a:defRPr sz="1600">
                <a:solidFill>
                  <a:srgbClr val="0A192F"/>
                </a:solidFill>
              </a:defRPr>
            </a:pPr>
            <a:r>
              <a:t>Inflation: 3% annual, halving every 2 years</a:t>
            </a:r>
          </a:p>
          <a:p>
            <a:pPr>
              <a:defRPr sz="1600">
                <a:solidFill>
                  <a:srgbClr val="0A192F"/>
                </a:solidFill>
              </a:defRPr>
            </a:pPr>
            <a:r>
              <a:t>Utility: Governance voting, staking yields, fee payments</a:t>
            </a:r>
          </a:p>
          <a:p>
            <a:pPr>
              <a:defRPr sz="1600">
                <a:solidFill>
                  <a:srgbClr val="0A192F"/>
                </a:solidFill>
              </a:defRPr>
            </a:pPr>
            <a:r>
              <a:t>Deflation: Transaction fee burns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A192F"/>
                </a:solidFill>
              </a:defRPr>
            </a:pPr>
            <a:r>
              <a:t>Compliance &amp; Scalability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>
                <a:solidFill>
                  <a:srgbClr val="0A192F"/>
                </a:solidFill>
              </a:defRPr>
            </a:pPr>
            <a:r>
              <a:t>KYC/AML: Optional zero-knowledge proofs for privacy</a:t>
            </a:r>
          </a:p>
          <a:p>
            <a:pPr>
              <a:defRPr sz="1600">
                <a:solidFill>
                  <a:srgbClr val="0A192F"/>
                </a:solidFill>
              </a:defRPr>
            </a:pPr>
            <a:r>
              <a:t>Regulatory: GDPR, FATF, MiCA compliant</a:t>
            </a:r>
          </a:p>
          <a:p>
            <a:pPr>
              <a:defRPr sz="1600">
                <a:solidFill>
                  <a:srgbClr val="0A192F"/>
                </a:solidFill>
              </a:defRPr>
            </a:pPr>
            <a:r>
              <a:t>Audits: CertiK + Quantstamp smart contract reviews</a:t>
            </a:r>
          </a:p>
          <a:p>
            <a:pPr>
              <a:defRPr sz="1600">
                <a:solidFill>
                  <a:srgbClr val="0A192F"/>
                </a:solidFill>
              </a:defRPr>
            </a:pPr>
            <a:r>
              <a:t>Scalability: Cross-chain bridges (IBC-style relay)</a:t>
            </a:r>
          </a:p>
          <a:p>
            <a:pPr>
              <a:defRPr sz="1600">
                <a:solidFill>
                  <a:srgbClr val="0A192F"/>
                </a:solidFill>
              </a:defRPr>
            </a:pPr>
            <a:r>
              <a:t>Risk Mitigation: FMEA prioritization (RPN &lt;150)</a:t>
            </a:r>
          </a:p>
          <a:p>
            <a:pPr>
              <a:defRPr sz="1600">
                <a:solidFill>
                  <a:srgbClr val="0A192F"/>
                </a:solidFill>
              </a:defRPr>
            </a:pPr>
            <a:r>
              <a:t>Go-Live: Q1 2026 testnet → Q4 2026 mainnet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A192F"/>
                </a:solidFill>
              </a:defRPr>
            </a:pPr>
            <a:r>
              <a:t>MVP Traction &amp;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>
                <a:solidFill>
                  <a:srgbClr val="0A192F"/>
                </a:solidFill>
              </a:defRPr>
            </a:pPr>
            <a:r>
              <a:t>Testnet Deployment: 500+ validators onboarded</a:t>
            </a:r>
          </a:p>
          <a:p>
            <a:pPr>
              <a:defRPr sz="1600">
                <a:solidFill>
                  <a:srgbClr val="0A192F"/>
                </a:solidFill>
              </a:defRPr>
            </a:pPr>
            <a:r>
              <a:t>Uptime: &gt;99.5% network availability</a:t>
            </a:r>
          </a:p>
          <a:p>
            <a:pPr>
              <a:defRPr sz="1600">
                <a:solidFill>
                  <a:srgbClr val="0A192F"/>
                </a:solidFill>
              </a:defRPr>
            </a:pPr>
            <a:r>
              <a:t>Gas Efficiency: Average 78,746 gas per transaction</a:t>
            </a:r>
          </a:p>
          <a:p>
            <a:pPr>
              <a:defRPr sz="1600">
                <a:solidFill>
                  <a:srgbClr val="0A192F"/>
                </a:solidFill>
              </a:defRPr>
            </a:pPr>
            <a:r>
              <a:t>Test Coverage: 100% pass rate (15 passing tests)</a:t>
            </a:r>
          </a:p>
          <a:p>
            <a:pPr>
              <a:defRPr sz="1600">
                <a:solidFill>
                  <a:srgbClr val="0A192F"/>
                </a:solidFill>
              </a:defRPr>
            </a:pPr>
            <a:r>
              <a:t>Transaction Processing: 2,000+ TPS capacity</a:t>
            </a:r>
          </a:p>
          <a:p>
            <a:pPr>
              <a:defRPr sz="1600">
                <a:solidFill>
                  <a:srgbClr val="0A192F"/>
                </a:solidFill>
              </a:defRPr>
            </a:pPr>
            <a:r>
              <a:t>Community: 10K+ Discord members, 5K GitHub stars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Roadmap &amp; KPIs (2026-2027)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522514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Quarter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Milestone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KPI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Q1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Testnet MVP Launch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500 validators, 99.5% uptime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Q2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Third-Party Audits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&lt;2% issue severity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Q3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Mainnet Beta + DAO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2,000 TPS, 10K voters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Q4 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Treasury Launch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100 validators, $10M volume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Q1 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Institutional Onboarding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 pilot governments (B2G)</a:t>
                      </a:r>
                    </a:p>
                  </a:txBody>
                  <a:tcPr/>
                </a:tc>
              </a:tr>
              <a:tr h="52251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Q3 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AI Security Suite Live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&gt;95% threat detection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A192F"/>
                </a:solidFill>
              </a:defRPr>
            </a:pPr>
            <a:r>
              <a:t>Go-To-Market: Phased Rollout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>
                <a:solidFill>
                  <a:srgbClr val="0A192F"/>
                </a:solidFill>
              </a:defRPr>
            </a:pPr>
            <a:r>
              <a:t>Phase 1: Developer Grants (Q1 2026) - $500K in bounties</a:t>
            </a:r>
          </a:p>
          <a:p>
            <a:pPr>
              <a:defRPr sz="1600">
                <a:solidFill>
                  <a:srgbClr val="0A192F"/>
                </a:solidFill>
              </a:defRPr>
            </a:pPr>
            <a:r>
              <a:t>Phase 2: Enterprise Integrations (Q2 2026) - B2B/B2G pilots</a:t>
            </a:r>
          </a:p>
          <a:p>
            <a:pPr>
              <a:defRPr sz="1600">
                <a:solidFill>
                  <a:srgbClr val="0A192F"/>
                </a:solidFill>
              </a:defRPr>
            </a:pPr>
            <a:r>
              <a:t>Phase 3: Cross-Chain Partnerships (Q3 2026) - Polkadot/Cosmos</a:t>
            </a:r>
          </a:p>
          <a:p>
            <a:pPr>
              <a:defRPr sz="1600">
                <a:solidFill>
                  <a:srgbClr val="0A192F"/>
                </a:solidFill>
              </a:defRPr>
            </a:pPr>
            <a:r>
              <a:t>Phase 4: Retail Yield Portals (Q4 2026) - B2C/C2C campaigns</a:t>
            </a:r>
          </a:p>
          <a:p>
            <a:pPr>
              <a:defRPr sz="1600">
                <a:solidFill>
                  <a:srgbClr val="0A192F"/>
                </a:solidFill>
              </a:defRPr>
            </a:pPr>
            <a:r>
              <a:t>Marketing Channels: Hackathons, Dev bounties, Institutional reports</a:t>
            </a:r>
          </a:p>
          <a:p>
            <a:pPr>
              <a:defRPr sz="1600">
                <a:solidFill>
                  <a:srgbClr val="0A192F"/>
                </a:solidFill>
              </a:defRPr>
            </a:pPr>
            <a:r>
              <a:t>Community Building: Airdrops via Wallet Connect, SDK grants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Competitive Edge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522514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FlightGuard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Ethereum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Polkadot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Consensus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Hybrid PoW+PoS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PoS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PoS Only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Energy Savings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40% vs PoW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Similar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Dual-layer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Single-layer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Shared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AI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Predictive 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None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Gas Costs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$0.05 avg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$2-5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$0.10</a:t>
                      </a:r>
                    </a:p>
                  </a:txBody>
                  <a:tcPr/>
                </a:tc>
              </a:tr>
              <a:tr h="522516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Governance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DAO + Slashing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DAO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Council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A192F"/>
                </a:solidFill>
              </a:defRPr>
            </a:pPr>
            <a:r>
              <a:t>Team &amp; Expertise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>
                <a:solidFill>
                  <a:srgbClr val="0A192F"/>
                </a:solidFill>
              </a:defRPr>
            </a:pPr>
            <a:r>
              <a:t>Core Team: 5 blockchain engineers, 4 AI scientists, 2 economists</a:t>
            </a:r>
          </a:p>
          <a:p>
            <a:pPr>
              <a:defRPr sz="1600">
                <a:solidFill>
                  <a:srgbClr val="0A192F"/>
                </a:solidFill>
              </a:defRPr>
            </a:pPr>
            <a:r>
              <a:t>Advisory Board: Stanford blockchain faculty + FinTech veterans</a:t>
            </a:r>
          </a:p>
          <a:p>
            <a:pPr>
              <a:defRPr sz="1600">
                <a:solidFill>
                  <a:srgbClr val="0A192F"/>
                </a:solidFill>
              </a:defRPr>
            </a:pPr>
            <a:r>
              <a:t>Experience: Ex-Ethereum Foundation, Google AI, McKinsey</a:t>
            </a:r>
          </a:p>
          <a:p>
            <a:pPr>
              <a:defRPr sz="1600">
                <a:solidFill>
                  <a:srgbClr val="0A192F"/>
                </a:solidFill>
              </a:defRPr>
            </a:pPr>
            <a:r>
              <a:t>Due Care Charter: Ethical disclosure + quarterly audits</a:t>
            </a:r>
          </a:p>
          <a:p>
            <a:pPr>
              <a:defRPr sz="1600">
                <a:solidFill>
                  <a:srgbClr val="0A192F"/>
                </a:solidFill>
              </a:defRPr>
            </a:pPr>
            <a:r>
              <a:t>Developer Community: 50+ open-source contributors</a:t>
            </a:r>
          </a:p>
          <a:p>
            <a:pPr>
              <a:defRPr sz="1600">
                <a:solidFill>
                  <a:srgbClr val="0A192F"/>
                </a:solidFill>
              </a:defRPr>
            </a:pPr>
            <a:r>
              <a:t>Legal Advisors: 2 regulatory compliance experts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A192F"/>
                </a:solidFill>
              </a:defRPr>
            </a:pPr>
            <a:r>
              <a:t>Financial Projections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>
                <a:solidFill>
                  <a:srgbClr val="0A192F"/>
                </a:solidFill>
              </a:defRPr>
            </a:pPr>
            <a:r>
              <a:t>2026: $10M revenue, 50K users (Testnet + early staking)</a:t>
            </a:r>
          </a:p>
          <a:p>
            <a:pPr>
              <a:defRPr sz="1600">
                <a:solidFill>
                  <a:srgbClr val="0A192F"/>
                </a:solidFill>
              </a:defRPr>
            </a:pPr>
            <a:r>
              <a:t>2027: $45M revenue, 250K users (DAO + cross-chain)</a:t>
            </a:r>
          </a:p>
          <a:p>
            <a:pPr>
              <a:defRPr sz="1600">
                <a:solidFill>
                  <a:srgbClr val="0A192F"/>
                </a:solidFill>
              </a:defRPr>
            </a:pPr>
            <a:r>
              <a:t>2028: $100M revenue, 1M users (Institutional integration)</a:t>
            </a:r>
          </a:p>
          <a:p>
            <a:pPr>
              <a:defRPr sz="1600">
                <a:solidFill>
                  <a:srgbClr val="0A192F"/>
                </a:solidFill>
              </a:defRPr>
            </a:pPr>
            <a:r>
              <a:t>Funding: $5M seed closed, $10M Series A (Q2 2026)</a:t>
            </a:r>
          </a:p>
          <a:p>
            <a:pPr>
              <a:defRPr sz="1600">
                <a:solidFill>
                  <a:srgbClr val="0A192F"/>
                </a:solidFill>
              </a:defRPr>
            </a:pPr>
            <a:r>
              <a:t>Runway: 24-28 months (extendable via treasury staking)</a:t>
            </a:r>
          </a:p>
          <a:p>
            <a:pPr>
              <a:defRPr sz="1600">
                <a:solidFill>
                  <a:srgbClr val="0A192F"/>
                </a:solidFill>
              </a:defRPr>
            </a:pPr>
            <a:r>
              <a:t>Unit Economics: CAC $50, CLV $500 (10x return)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Due Diligence &amp; Due Care Framework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6096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Due Diligence (Pre-Launch)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Due Care (Ongoing)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Legal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Token classification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Quarterly compliance audits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Technical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Penetration 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Continuous fuzzing (Echidna)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Financial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Treasury audits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Real-time monitoring dashboards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Operational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Vendor risk checks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SIEM/SOAR automated responses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Governance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DAO bylaws drafted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Monthly governance reviews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A192F"/>
                </a:solidFill>
              </a:defRPr>
            </a:pPr>
            <a:r>
              <a:t>The Ask: $10M Series 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>
                <a:solidFill>
                  <a:srgbClr val="0A192F"/>
                </a:solidFill>
              </a:defRPr>
            </a:pPr>
            <a:r>
              <a:t>Allocation: 40% Development, 30% Marketing, 20% Operations, 10% Reserve</a:t>
            </a:r>
          </a:p>
          <a:p>
            <a:pPr>
              <a:defRPr sz="1600">
                <a:solidFill>
                  <a:srgbClr val="0A192F"/>
                </a:solidFill>
              </a:defRPr>
            </a:pPr>
            <a:r>
              <a:t>Milestones: Q3 2026 Mainnet, Q4 2026 DAO Treasury</a:t>
            </a:r>
          </a:p>
          <a:p>
            <a:pPr>
              <a:defRPr sz="1600">
                <a:solidFill>
                  <a:srgbClr val="0A192F"/>
                </a:solidFill>
              </a:defRPr>
            </a:pPr>
            <a:r>
              <a:t>Valuation: $50M pre-money (10x upside potential)</a:t>
            </a:r>
          </a:p>
          <a:p>
            <a:pPr>
              <a:defRPr sz="1600">
                <a:solidFill>
                  <a:srgbClr val="0A192F"/>
                </a:solidFill>
              </a:defRPr>
            </a:pPr>
            <a:r>
              <a:t>Use of Funds: Smart contract audits, enterprise BD, global expansion</a:t>
            </a:r>
          </a:p>
          <a:p>
            <a:pPr>
              <a:defRPr sz="1600">
                <a:solidFill>
                  <a:srgbClr val="0A192F"/>
                </a:solidFill>
              </a:defRPr>
            </a:pPr>
            <a:r>
              <a:t>Exit Strategy: Strategic acquisition or token public listing (2028)</a:t>
            </a:r>
          </a:p>
          <a:p>
            <a:pPr>
              <a:defRPr sz="1600">
                <a:solidFill>
                  <a:srgbClr val="0A192F"/>
                </a:solidFill>
              </a:defRPr>
            </a:pPr>
            <a:r>
              <a:t>Investor Benefits: Early governance rights + staking yields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Don't Miss the Hybrid Revolution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E2E8F0"/>
                </a:solidFill>
              </a:defRPr>
            </a:pPr>
            <a:r>
              <a:t>The first blockchain ecosystem built for intelligence, sustainability, and global interoperability. Missed Bitcoin in 2010? Don't miss this.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4864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B82F6"/>
                </a:solidFill>
              </a:defRPr>
            </a:pPr>
            <a:r>
              <a:t>Prepared by: Elturan Aliyev | MVP Stage: Testnet Ready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